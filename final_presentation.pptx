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91295" y="457200"/>
            <a:ext cx="2286000" cy="2286000"/>
          </a:xfrm>
          <a:prstGeom prst="ellipse">
            <a:avLst/>
          </a:prstGeom>
          <a:solidFill>
            <a:srgbClr val="12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05695" y="1097280"/>
            <a:ext cx="1371600" cy="137160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Georgia"/>
              </a:defRPr>
            </a:pPr>
            <a:r>
              <a:t>Expat NL Mortgage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0">
                <a:solidFill>
                  <a:srgbClr val="00BCD4"/>
                </a:solidFill>
                <a:latin typeface="Calibri"/>
              </a:defRPr>
            </a:pPr>
            <a:r>
              <a:t>AI-Powered Property Advisory for International Buyers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657600"/>
            <a:ext cx="3200400" cy="2743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1280160" cy="320040"/>
          </a:xfrm>
          <a:prstGeom prst="roundRect">
            <a:avLst/>
          </a:prstGeom>
          <a:solidFill>
            <a:srgbClr val="12243E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133087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1E88E5"/>
                </a:solidFill>
                <a:latin typeface="Calibri"/>
              </a:defRPr>
            </a:pPr>
            <a:r>
              <a:t>RAG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4114800"/>
            <a:ext cx="1280160" cy="320040"/>
          </a:xfrm>
          <a:prstGeom prst="roundRect">
            <a:avLst/>
          </a:prstGeom>
          <a:solidFill>
            <a:srgbClr val="12243E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4133087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1E88E5"/>
                </a:solidFill>
                <a:latin typeface="Calibri"/>
              </a:defRPr>
            </a:pPr>
            <a:r>
              <a:t>Hybrid 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4114800"/>
            <a:ext cx="1280160" cy="320040"/>
          </a:xfrm>
          <a:prstGeom prst="roundRect">
            <a:avLst/>
          </a:prstGeom>
          <a:solidFill>
            <a:srgbClr val="12243E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4133087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1E88E5"/>
                </a:solidFill>
                <a:latin typeface="Calibri"/>
              </a:defRPr>
            </a:pPr>
            <a:r>
              <a:t>Multi-Agent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4114800"/>
            <a:ext cx="1280160" cy="320040"/>
          </a:xfrm>
          <a:prstGeom prst="roundRect">
            <a:avLst/>
          </a:prstGeom>
          <a:solidFill>
            <a:srgbClr val="12243E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4133087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1E88E5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4114800"/>
            <a:ext cx="1280160" cy="320040"/>
          </a:xfrm>
          <a:prstGeom prst="roundRect">
            <a:avLst/>
          </a:prstGeom>
          <a:solidFill>
            <a:srgbClr val="12243E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133087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1E88E5"/>
                </a:solidFill>
                <a:latin typeface="Calibri"/>
              </a:defRPr>
            </a:pPr>
            <a:r>
              <a:t>Qdrant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4114800"/>
            <a:ext cx="1280160" cy="320040"/>
          </a:xfrm>
          <a:prstGeom prst="roundRect">
            <a:avLst/>
          </a:prstGeom>
          <a:solidFill>
            <a:srgbClr val="12243E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4133087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1E88E5"/>
                </a:solidFill>
                <a:latin typeface="Calibri"/>
              </a:defRPr>
            </a:pPr>
            <a:r>
              <a:t>Streamlit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60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Ajai  |  March 2026  |  4,500+ Lines of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2D2D2D"/>
                </a:solidFill>
                <a:latin typeface="Georgia"/>
              </a:defRPr>
            </a:pPr>
            <a:r>
              <a:t>Presentation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8D99AE"/>
                </a:solidFill>
                <a:latin typeface="Calibri"/>
              </a:defRPr>
            </a:pPr>
            <a:r>
              <a:t>Covering all 8 evaluation criteria in depth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Problem Definition &amp; AI Framing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9339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Why AI? Inputs, outputs, success criteria</a:t>
            </a:r>
          </a:p>
        </p:txBody>
      </p:sp>
      <p:sp>
        <p:nvSpPr>
          <p:cNvPr id="8" name="Oval 7"/>
          <p:cNvSpPr/>
          <p:nvPr/>
        </p:nvSpPr>
        <p:spPr>
          <a:xfrm>
            <a:off x="6309360" y="1691640"/>
            <a:ext cx="457200" cy="45720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6459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Data Understanding &amp;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99339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Dataset, preprocessing, semantic chunking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880360"/>
            <a:ext cx="457200" cy="45720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346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AI Innovation &amp;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18211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Hybrid RAG, multi-agent, knowledge graph</a:t>
            </a:r>
          </a:p>
        </p:txBody>
      </p:sp>
      <p:sp>
        <p:nvSpPr>
          <p:cNvPr id="14" name="Oval 13"/>
          <p:cNvSpPr/>
          <p:nvPr/>
        </p:nvSpPr>
        <p:spPr>
          <a:xfrm>
            <a:off x="6309360" y="2880360"/>
            <a:ext cx="457200" cy="45720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8346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Model Selection &amp;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18211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Why RAG over fine-tuning? Provider abstraction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23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Training, Evaluation &amp;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37083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RAGAS evals, golden dataset, drift monitoring</a:t>
            </a:r>
          </a:p>
        </p:txBody>
      </p:sp>
      <p:sp>
        <p:nvSpPr>
          <p:cNvPr id="20" name="Oval 19"/>
          <p:cNvSpPr/>
          <p:nvPr/>
        </p:nvSpPr>
        <p:spPr>
          <a:xfrm>
            <a:off x="6309360" y="4069080"/>
            <a:ext cx="457200" cy="45720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023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Database-AI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37083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Qdrant pipeline, end-to-end ingestion flow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5257800"/>
            <a:ext cx="457200" cy="45720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212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Business 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55955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Who benefits? Actionable outputs</a:t>
            </a:r>
          </a:p>
        </p:txBody>
      </p:sp>
      <p:sp>
        <p:nvSpPr>
          <p:cNvPr id="26" name="Oval 25"/>
          <p:cNvSpPr/>
          <p:nvPr/>
        </p:nvSpPr>
        <p:spPr>
          <a:xfrm>
            <a:off x="6309360" y="5257800"/>
            <a:ext cx="457200" cy="45720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5212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Documentation &amp; Reproducibility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555955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Project structure, deployment, responsible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188720" cy="2926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CRITERION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2D2D2D"/>
                </a:solidFill>
                <a:latin typeface="Georgia"/>
              </a:defRPr>
            </a:pPr>
            <a:r>
              <a:t>Problem Definition &amp; AI Framing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Georgia"/>
              </a:defRPr>
            </a:pPr>
            <a:r>
              <a:t>The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73152" cy="3200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Language Barrier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67712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Dutch mortgage docs are complex, in Dutch, with domain-specific terminology.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63240"/>
            <a:ext cx="73152" cy="3200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Information Overload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364992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Tax rules (hypotheekrenteaftrek), NHG, woning types, energielabel — scattered across 100s of pages.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160520"/>
            <a:ext cx="73152" cy="3200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Time Pressure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62272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Expats need fast, accurate answers when making one of their biggest financial decisions.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257800"/>
            <a:ext cx="73152" cy="3200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2120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No Personalization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559552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Generic websites don't answer: "Can I deduct mortgage interest as a kennismigrant?"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Georgia"/>
              </a:defRPr>
            </a:pPr>
            <a:r>
              <a:t>Why AI, Not Rules?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965960"/>
            <a:ext cx="73152" cy="3200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92024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Unstructured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267712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Mortgage documents are free-text PDFs — rules can't parse meaning from paragraphs.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063240"/>
            <a:ext cx="73152" cy="3200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301752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Nuanced Queries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364992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"What tax benefits apply to me as a 30% ruling holder?" requires contextual reasoning.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160520"/>
            <a:ext cx="73152" cy="3200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11480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Evolving Knowledge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462272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Tax laws and regulations change; AI retrieves from current documents, not hardcoded logic.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5257800"/>
            <a:ext cx="73152" cy="3200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52120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Multi-Domain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559552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Combines mortgage, tax, location, and property data — too complex for if-else trees.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188720" cy="2926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CRITERION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2D2D2D"/>
                </a:solidFill>
                <a:latin typeface="Georgia"/>
              </a:defRPr>
            </a:pPr>
            <a:r>
              <a:t>AI Task Definition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926080" cy="41148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2D2D2D"/>
                </a:solidFill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1E88E5"/>
                </a:solidFill>
                <a:latin typeface="Calibri"/>
              </a:defRPr>
            </a:pPr>
            <a: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PDF mortgage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User natural-language 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Location/address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Mortgage parameters</a:t>
            </a:r>
            <a:br/>
            <a:r>
              <a:t>(bid, eigen inleg, type woning)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Web search results (Tavily)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49039" y="3474720"/>
            <a:ext cx="548640" cy="365760"/>
          </a:xfrm>
          <a:prstGeom prst="rightArrow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1645920"/>
            <a:ext cx="3200400" cy="41148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4480560" y="1691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19456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Semantic chunking</a:t>
            </a:r>
            <a:br/>
            <a:r>
              <a:t>(800 char, structure-aware)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83464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Vector embedding</a:t>
            </a:r>
            <a:br/>
            <a:r>
              <a:t>(text-embedding-3-small)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47472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Hybrid retrieval</a:t>
            </a:r>
            <a:br/>
            <a:r>
              <a:t>(Vector + Keyword + RRF)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11480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LLM reasoning</a:t>
            </a:r>
            <a:br/>
            <a:r>
              <a:t>(GPT-4o / Claude / Ollama)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75488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Multi-agent routing</a:t>
            </a:r>
            <a:br/>
            <a:r>
              <a:t>(retrieval, location, calc)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772400" y="3474720"/>
            <a:ext cx="548640" cy="365760"/>
          </a:xfrm>
          <a:prstGeom prst="rightArrow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03920" y="1645920"/>
            <a:ext cx="2926080" cy="41148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2D2D2D"/>
                </a:solidFill>
                <a:latin typeface="Calibr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8503920" y="16916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1E88E5"/>
                </a:solidFill>
                <a:latin typeface="Calibri"/>
              </a:defRPr>
            </a:pPr>
            <a:r>
              <a:t>OUTPUTS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19456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Cited answer with sources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283464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Mortgage cost estimates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47472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Nearby facility 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11480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Knowledge graph</a:t>
            </a:r>
            <a:br/>
            <a:r>
              <a:t>visualization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75488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Sun orientation diagram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8D99AE"/>
                </a:solidFill>
                <a:latin typeface="Calibri"/>
              </a:defRPr>
            </a:pPr>
            <a:r>
              <a:t>Success Criteria:  Faithfulness &gt; 0.75  |  Answer Relevancy &gt; 0.90  |  Response &lt; 5s  |  Cited sources for every answer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188720" cy="29260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CRITERION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2D2D2D"/>
                </a:solidFill>
                <a:latin typeface="Georgia"/>
              </a:defRPr>
            </a:pPr>
            <a:r>
              <a:t>Data Understanding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256032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9344"/>
            <a:ext cx="2560320" cy="250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Calibri"/>
              </a:defRPr>
            </a:pPr>
            <a:r>
              <a:t>PDF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2103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Dutch mortgage guides, tax regulations,</a:t>
            </a:r>
            <a:br/>
            <a:r>
              <a:t>property advisory documents.</a:t>
            </a:r>
            <a:br/>
            <a:r>
              <a:t>Free-text, tables, legal terminology.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566160"/>
            <a:ext cx="1097280" cy="25603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Unstructured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1554480"/>
            <a:ext cx="256032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1609344"/>
            <a:ext cx="2560320" cy="250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1737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Calibri"/>
              </a:defRPr>
            </a:pPr>
            <a:r>
              <a:t>User Queries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103120"/>
            <a:ext cx="2103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Natural language questions from expats.</a:t>
            </a:r>
            <a:br/>
            <a:r>
              <a:t>"Can I deduct mortgage interest?"</a:t>
            </a:r>
            <a:br/>
            <a:r>
              <a:t>"What is NHG?"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3566160"/>
            <a:ext cx="1097280" cy="256032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356616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Text Input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554480"/>
            <a:ext cx="2560320" cy="5486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609344"/>
            <a:ext cx="2560320" cy="250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737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Calibri"/>
              </a:defRPr>
            </a:pPr>
            <a:r>
              <a:t>Location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103120"/>
            <a:ext cx="2103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Addresses, GPS coordinates, POI data</a:t>
            </a:r>
            <a:br/>
            <a:r>
              <a:t>from OpenStreetMap (Nominatim, Overpass).</a:t>
            </a:r>
            <a:br/>
            <a:r>
              <a:t>Route data from OSRM.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3566160"/>
            <a:ext cx="1097280" cy="256032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56616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Geospatial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1554480"/>
            <a:ext cx="256032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609344"/>
            <a:ext cx="2560320" cy="250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1737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Calibri"/>
              </a:defRPr>
            </a:pPr>
            <a:r>
              <a:t>Golden Dataset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2103120"/>
            <a:ext cx="2103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3 curated QA pairs with reference answers</a:t>
            </a:r>
            <a:br/>
            <a:r>
              <a:t>and contexts for RAGAS evaluation.</a:t>
            </a:r>
            <a:br/>
            <a:r>
              <a:t>Faithfulness &amp; relevancy scored.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72600" y="3566160"/>
            <a:ext cx="1097280" cy="256032"/>
          </a:xfrm>
          <a:prstGeom prst="round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600" y="356616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480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Georgia"/>
              </a:defRPr>
            </a:pPr>
            <a:r>
              <a:t>Data Challenges &amp; How We Handle Them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074920"/>
            <a:ext cx="73152" cy="2286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0292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Calibri"/>
              </a:defRPr>
            </a:pPr>
            <a:r>
              <a:t>Unstructured PDFs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50292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pypdf extraction + semantic chunking preserves paragraph structure and meaning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5074920"/>
            <a:ext cx="73152" cy="2286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50292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Calibri"/>
              </a:defRPr>
            </a:pPr>
            <a:r>
              <a:t>Noisy text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50292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Structure-aware splitting on paragraph breaks, markdown headers, numbered sections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852160"/>
            <a:ext cx="73152" cy="2286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8064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Calibri"/>
              </a:defRPr>
            </a:pPr>
            <a:r>
              <a:t>Missing context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8960" y="580644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Hybrid retrieval (vector + keyword) + optional Tavily web search fallback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5852160"/>
            <a:ext cx="73152" cy="2286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58064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Calibri"/>
              </a:defRPr>
            </a:pPr>
            <a:r>
              <a:t>Domain terminology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580644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800-char chunks with 150-char overlap ensure Dutch mortgage terms stay in context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188720" cy="29260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CRITERION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2D2D2D"/>
                </a:solidFill>
                <a:latin typeface="Georgia"/>
              </a:defRPr>
            </a:pPr>
            <a:r>
              <a:t>Feature Engineering &amp;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8D99AE"/>
                </a:solidFill>
                <a:latin typeface="Calibri"/>
              </a:defRPr>
            </a:pPr>
            <a:r>
              <a:t>How raw PDFs become queryable knowledge — the semantic chunking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1325880" cy="11887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PDF Upload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828800" y="2286000"/>
            <a:ext cx="201168" cy="228600"/>
          </a:xfrm>
          <a:prstGeom prst="rightArrow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57400" y="1828800"/>
            <a:ext cx="1325880" cy="118872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Text Extract</a:t>
            </a:r>
            <a:br/>
            <a:r>
              <a:t>(pypdf)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429000" y="2286000"/>
            <a:ext cx="201168" cy="228600"/>
          </a:xfrm>
          <a:prstGeom prst="rightArrow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0" y="1828800"/>
            <a:ext cx="1325880" cy="11887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Structure Split</a:t>
            </a:r>
            <a:br/>
            <a:r>
              <a:t>(paragraphs,</a:t>
            </a:r>
            <a:br/>
            <a:r>
              <a:t>headers)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029200" y="2286000"/>
            <a:ext cx="201168" cy="228600"/>
          </a:xfrm>
          <a:prstGeom prst="rightArrow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57800" y="1828800"/>
            <a:ext cx="1325880" cy="118872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Semantic Group</a:t>
            </a:r>
            <a:br/>
            <a:r>
              <a:t>(800 char target,</a:t>
            </a:r>
            <a:br/>
            <a:r>
              <a:t>150 overlap)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629400" y="2286000"/>
            <a:ext cx="201168" cy="228600"/>
          </a:xfrm>
          <a:prstGeom prst="rightArrow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0" y="1828800"/>
            <a:ext cx="1325880" cy="1188720"/>
          </a:xfrm>
          <a:prstGeom prst="round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LLM Refine</a:t>
            </a:r>
            <a:br/>
            <a:r>
              <a:t>(optional, for</a:t>
            </a:r>
            <a:br/>
            <a:r>
              <a:t>long sections)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229600" y="2286000"/>
            <a:ext cx="201168" cy="228600"/>
          </a:xfrm>
          <a:prstGeom prst="rightArrow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58200" y="1828800"/>
            <a:ext cx="1325880" cy="118872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Embedding</a:t>
            </a:r>
            <a:br/>
            <a:r>
              <a:t>(1536-dim</a:t>
            </a:r>
            <a:br/>
            <a:r>
              <a:t>vectors)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829800" y="2286000"/>
            <a:ext cx="201168" cy="228600"/>
          </a:xfrm>
          <a:prstGeom prst="rightArrow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58400" y="1828800"/>
            <a:ext cx="1325880" cy="1188720"/>
          </a:xfrm>
          <a:prstGeom prst="roundRect">
            <a:avLst/>
          </a:prstGeom>
          <a:solidFill>
            <a:srgbClr val="12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Qdrant</a:t>
            </a:r>
            <a:br/>
            <a:r>
              <a:t>Upsert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474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Georgia"/>
              </a:defRPr>
            </a:pPr>
            <a:r>
              <a:t>Key Parameters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319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Chunk Size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9319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E88E5"/>
                </a:solidFill>
                <a:latin typeface="Consolas"/>
              </a:defRPr>
            </a:pPr>
            <a:r>
              <a:t>800 chars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9319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Balances context richness with retrieval precision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9319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Overlap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39319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E88E5"/>
                </a:solidFill>
                <a:latin typeface="Consolas"/>
              </a:defRPr>
            </a:pPr>
            <a:r>
              <a:t>150 chars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9319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Prevents splitting Dutch compound terms mid-word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59028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Max Chunk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45902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E88E5"/>
                </a:solidFill>
                <a:latin typeface="Consolas"/>
              </a:defRPr>
            </a:pPr>
            <a:r>
              <a:t>2,000 chars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590288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Triggers LLM-based splitting for long sections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59028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Min Chunk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45902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E88E5"/>
                </a:solidFill>
                <a:latin typeface="Consolas"/>
              </a:defRPr>
            </a:pPr>
            <a:r>
              <a:t>100 chars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4590288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Filters out fragments too short to be useful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24865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Embedding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524865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E88E5"/>
                </a:solidFill>
                <a:latin typeface="Consolas"/>
              </a:defRPr>
            </a:pPr>
            <a:r>
              <a:t>text-embedding-3-small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5248656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1536 dimensions, OpenAI, cost-efficient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24865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Batch Size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524865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E88E5"/>
                </a:solidFill>
                <a:latin typeface="Consolas"/>
              </a:defRPr>
            </a:pPr>
            <a:r>
              <a:t>100 chunks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5248656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Optimizes API throughput during ingestion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90702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Distance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77440" y="590702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E88E5"/>
                </a:solidFill>
                <a:latin typeface="Consolas"/>
              </a:defRPr>
            </a:pPr>
            <a:r>
              <a:t>Cosine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907024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Standard for semantic similarity in RAG systems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590702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Vector DB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80" y="590702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E88E5"/>
                </a:solidFill>
                <a:latin typeface="Consolas"/>
              </a:defRPr>
            </a:pPr>
            <a:r>
              <a:t>Qdrant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5907024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Purpose-built for vector search with filtering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463040" cy="29260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CRITERION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Georgia"/>
              </a:defRPr>
            </a:pPr>
            <a:r>
              <a:t>System Architecture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8D99AE"/>
                </a:solidFill>
                <a:latin typeface="Calibri"/>
              </a:defRPr>
            </a:pPr>
            <a:r>
              <a:t>End-to-end RAG system with multi-agent orchestration and rich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828800"/>
            <a:ext cx="3017520" cy="548640"/>
          </a:xfrm>
          <a:prstGeom prst="roundRect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User (Expat / Buyer)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2377440"/>
            <a:ext cx="109728" cy="320040"/>
          </a:xfrm>
          <a:prstGeom prst="rect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86000" y="2743200"/>
            <a:ext cx="7589520" cy="5486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Streamlit UI  —  Chat | Calculator | Map | KG | Sun | Observability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3291840"/>
            <a:ext cx="109728" cy="320040"/>
          </a:xfrm>
          <a:prstGeom prst="rect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0" y="3657600"/>
            <a:ext cx="4846320" cy="502920"/>
          </a:xfrm>
          <a:prstGeom prst="round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Multi-Agent Orchestrator (agents.py)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4160520"/>
            <a:ext cx="109728" cy="274320"/>
          </a:xfrm>
          <a:prstGeom prst="rect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4160520"/>
            <a:ext cx="109728" cy="274320"/>
          </a:xfrm>
          <a:prstGeom prst="rect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0" y="4160520"/>
            <a:ext cx="109728" cy="274320"/>
          </a:xfrm>
          <a:prstGeom prst="rect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4480560"/>
            <a:ext cx="2743200" cy="91440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Retrieval Agent</a:t>
            </a:r>
            <a:br/>
            <a:r>
              <a:t>Vector + Keyword</a:t>
            </a:r>
            <a:br/>
            <a:r>
              <a:t>RRF Fusion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4480560"/>
            <a:ext cx="2743200" cy="91440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Location Agent</a:t>
            </a:r>
            <a:br/>
            <a:r>
              <a:t>Nominatim + OSRM</a:t>
            </a:r>
            <a:br/>
            <a:r>
              <a:t>POI Search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4480560"/>
            <a:ext cx="2743200" cy="914400"/>
          </a:xfrm>
          <a:prstGeom prst="round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Calculator Agent</a:t>
            </a:r>
            <a:br/>
            <a:r>
              <a:t>Mortgage Estimation</a:t>
            </a:r>
            <a:br/>
            <a:r>
              <a:t>Kosten Koper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760720"/>
            <a:ext cx="1828800" cy="685800"/>
          </a:xfrm>
          <a:prstGeom prst="roundRect">
            <a:avLst/>
          </a:prstGeom>
          <a:solidFill>
            <a:srgbClr val="12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00" b="1">
                <a:solidFill>
                  <a:srgbClr val="8D99AE"/>
                </a:solidFill>
                <a:latin typeface="Calibri"/>
              </a:defRPr>
            </a:pPr>
            <a:r>
              <a:t>Qdrant</a:t>
            </a:r>
            <a:br/>
            <a:r>
              <a:t>Vector DB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5440680"/>
            <a:ext cx="109728" cy="320040"/>
          </a:xfrm>
          <a:prstGeom prst="rect">
            <a:avLst/>
          </a:prstGeom>
          <a:solidFill>
            <a:srgbClr val="405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0" y="5760720"/>
            <a:ext cx="1828800" cy="685800"/>
          </a:xfrm>
          <a:prstGeom prst="roundRect">
            <a:avLst/>
          </a:prstGeom>
          <a:solidFill>
            <a:srgbClr val="12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00" b="1">
                <a:solidFill>
                  <a:srgbClr val="8D99AE"/>
                </a:solidFill>
                <a:latin typeface="Calibri"/>
              </a:defRPr>
            </a:pPr>
            <a:r>
              <a:t>PDF</a:t>
            </a:r>
            <a:br/>
            <a:r>
              <a:t>Documents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5440680"/>
            <a:ext cx="109728" cy="320040"/>
          </a:xfrm>
          <a:prstGeom prst="rect">
            <a:avLst/>
          </a:prstGeom>
          <a:solidFill>
            <a:srgbClr val="405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0" y="5760720"/>
            <a:ext cx="1828800" cy="685800"/>
          </a:xfrm>
          <a:prstGeom prst="roundRect">
            <a:avLst/>
          </a:prstGeom>
          <a:solidFill>
            <a:srgbClr val="12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00" b="1">
                <a:solidFill>
                  <a:srgbClr val="8D99AE"/>
                </a:solidFill>
                <a:latin typeface="Calibri"/>
              </a:defRPr>
            </a:pPr>
            <a:r>
              <a:t>Tavily</a:t>
            </a:r>
            <a:br/>
            <a:r>
              <a:t>Web Search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5440680"/>
            <a:ext cx="109728" cy="320040"/>
          </a:xfrm>
          <a:prstGeom prst="rect">
            <a:avLst/>
          </a:prstGeom>
          <a:solidFill>
            <a:srgbClr val="405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0" y="5760720"/>
            <a:ext cx="1828800" cy="685800"/>
          </a:xfrm>
          <a:prstGeom prst="roundRect">
            <a:avLst/>
          </a:prstGeom>
          <a:solidFill>
            <a:srgbClr val="12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00" b="1">
                <a:solidFill>
                  <a:srgbClr val="8D99AE"/>
                </a:solidFill>
                <a:latin typeface="Calibri"/>
              </a:defRPr>
            </a:pPr>
            <a:r>
              <a:t>OSM / OSRM</a:t>
            </a:r>
            <a:br/>
            <a:r>
              <a:t>APIs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5440680"/>
            <a:ext cx="109728" cy="320040"/>
          </a:xfrm>
          <a:prstGeom prst="rect">
            <a:avLst/>
          </a:prstGeom>
          <a:solidFill>
            <a:srgbClr val="405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01200" y="5760720"/>
            <a:ext cx="1828800" cy="685800"/>
          </a:xfrm>
          <a:prstGeom prst="roundRect">
            <a:avLst/>
          </a:prstGeom>
          <a:solidFill>
            <a:srgbClr val="12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00" b="1">
                <a:solidFill>
                  <a:srgbClr val="8D99AE"/>
                </a:solidFill>
                <a:latin typeface="Calibri"/>
              </a:defRPr>
            </a:pPr>
            <a:r>
              <a:t>Langfuse</a:t>
            </a:r>
            <a:br/>
            <a:r>
              <a:t>Monitoring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24160" y="5440680"/>
            <a:ext cx="109728" cy="320040"/>
          </a:xfrm>
          <a:prstGeom prst="rect">
            <a:avLst/>
          </a:prstGeom>
          <a:solidFill>
            <a:srgbClr val="405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463040" cy="29260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CRITERION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2D2D2D"/>
                </a:solidFill>
                <a:latin typeface="Georgia"/>
              </a:defRPr>
            </a:pPr>
            <a:r>
              <a:t>AI Innovation: Hybrid Retrieval with RRF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8D99AE"/>
                </a:solidFill>
                <a:latin typeface="Calibri"/>
              </a:defRPr>
            </a:pPr>
            <a:r>
              <a:t>Combining semantic understanding with keyword precision for better recall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286000" cy="5486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User Query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1783080" y="2377440"/>
            <a:ext cx="109728" cy="365760"/>
          </a:xfrm>
          <a:prstGeom prst="rect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2011680" cy="118872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Vector Search</a:t>
            </a:r>
            <a:br/>
            <a:br/>
            <a:r>
              <a:t>Embed query</a:t>
            </a:r>
            <a:br/>
            <a:r>
              <a:t>Cosine similarity</a:t>
            </a:r>
            <a:br/>
            <a:r>
              <a:t>Top 30 results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926080"/>
            <a:ext cx="2011680" cy="11887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Keyword Search</a:t>
            </a:r>
            <a:br/>
            <a:br/>
            <a:r>
              <a:t>Term frequency</a:t>
            </a:r>
            <a:br/>
            <a:r>
              <a:t>Case-insensitive</a:t>
            </a:r>
            <a:br/>
            <a:r>
              <a:t>All results scored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114800"/>
            <a:ext cx="109728" cy="365760"/>
          </a:xfrm>
          <a:prstGeom prst="rect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4114800"/>
            <a:ext cx="109728" cy="365760"/>
          </a:xfrm>
          <a:prstGeom prst="rect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3200400" cy="914400"/>
          </a:xfrm>
          <a:prstGeom prst="round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RRF Merge (k=60)</a:t>
            </a:r>
            <a:br/>
            <a:r>
              <a:t>score = 1/(k + rank + 1)</a:t>
            </a:r>
            <a:br/>
            <a:r>
              <a:t>Top-N results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23360" y="4846320"/>
            <a:ext cx="365760" cy="274320"/>
          </a:xfrm>
          <a:prstGeom prst="rightArrow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80560" y="4572000"/>
            <a:ext cx="1828800" cy="91440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Final Ranked</a:t>
            </a:r>
            <a:br/>
            <a:r>
              <a:t>Chunks + Cites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Georgia"/>
              </a:defRPr>
            </a:pPr>
            <a:r>
              <a:t>Why Hybrid Search?</a:t>
            </a:r>
          </a:p>
        </p:txBody>
      </p:sp>
      <p:sp>
        <p:nvSpPr>
          <p:cNvPr id="17" name="Oval 16"/>
          <p:cNvSpPr/>
          <p:nvPr/>
        </p:nvSpPr>
        <p:spPr>
          <a:xfrm>
            <a:off x="6446520" y="2286000"/>
            <a:ext cx="274320" cy="27432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Calibri"/>
              </a:defRPr>
            </a:pPr>
            <a:r>
              <a:t>Vector-only misses keywords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578608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"NHG" might not be semantically close to "Nationale Hypotheek Garantie" in embedding space.</a:t>
            </a:r>
          </a:p>
        </p:txBody>
      </p:sp>
      <p:sp>
        <p:nvSpPr>
          <p:cNvPr id="20" name="Oval 19"/>
          <p:cNvSpPr/>
          <p:nvPr/>
        </p:nvSpPr>
        <p:spPr>
          <a:xfrm>
            <a:off x="6446520" y="3291840"/>
            <a:ext cx="274320" cy="27432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2918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Calibri"/>
              </a:defRPr>
            </a:pPr>
            <a:r>
              <a:t>Keyword-only misses meaning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584448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"Can I deduct housing costs?" won't match "hypotheekrenteaftrek" by keyword alone.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297680"/>
            <a:ext cx="274320" cy="27432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2976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Calibri"/>
              </a:defRPr>
            </a:pPr>
            <a:r>
              <a:t>RRF fusion is robust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590288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Reciprocal Rank Fusion doesn't need score normalization — works across different scoring scales.</a:t>
            </a:r>
          </a:p>
        </p:txBody>
      </p:sp>
      <p:sp>
        <p:nvSpPr>
          <p:cNvPr id="26" name="Oval 25"/>
          <p:cNvSpPr/>
          <p:nvPr/>
        </p:nvSpPr>
        <p:spPr>
          <a:xfrm>
            <a:off x="6446520" y="5303520"/>
            <a:ext cx="274320" cy="27432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5303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Calibri"/>
              </a:defRPr>
            </a:pPr>
            <a:r>
              <a:t>Configurable k parameter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5596128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k=60 balances early vs. late ranks. Higher k gives more weight to lower-ranked results.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463040" cy="29260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CRITERION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2D2D2D"/>
                </a:solidFill>
                <a:latin typeface="Georgia"/>
              </a:defRPr>
            </a:pPr>
            <a:r>
              <a:t>AI Innovation: Multi-Agent 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8D99AE"/>
                </a:solidFill>
                <a:latin typeface="Calibri"/>
              </a:defRPr>
            </a:pPr>
            <a:r>
              <a:t>Specialist agents collaborate to answer complex multi-domain queries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645920"/>
            <a:ext cx="3931920" cy="640080"/>
          </a:xfrm>
          <a:prstGeom prst="round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Query Router / Orchestrator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2286000"/>
            <a:ext cx="109728" cy="4572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834640"/>
            <a:ext cx="3200400" cy="164592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Retrieval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BBDEFB"/>
                </a:solidFill>
                <a:latin typeface="Calibri"/>
              </a:defRPr>
            </a:pPr>
            <a:r>
              <a:t>Handles document-based queries.</a:t>
            </a:r>
            <a:br/>
            <a:r>
              <a:t>Searches Qdrant with hybrid retrieval.</a:t>
            </a:r>
            <a:br/>
            <a:r>
              <a:t>Returns cited chunks with sources.</a:t>
            </a:r>
            <a:br/>
            <a:br/>
            <a:r>
              <a:t>Triggers: tax, deduction, mortgage</a:t>
            </a:r>
            <a:br/>
            <a:r>
              <a:t>rules, NHG, hypotheek terms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286000"/>
            <a:ext cx="109728" cy="4572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2834640"/>
            <a:ext cx="3200400" cy="164592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572000" y="288036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Location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46120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C8E6C9"/>
                </a:solidFill>
                <a:latin typeface="Calibri"/>
              </a:defRPr>
            </a:pPr>
            <a:r>
              <a:t>Handles spatial queries.</a:t>
            </a:r>
            <a:br/>
            <a:r>
              <a:t>Geocodes via Nominatim + Overpass.</a:t>
            </a:r>
            <a:br/>
            <a:r>
              <a:t>Computes OSRM commute routes.</a:t>
            </a:r>
            <a:br/>
            <a:br/>
            <a:r>
              <a:t>Triggers: near, address, commute,</a:t>
            </a:r>
            <a:br/>
            <a:r>
              <a:t>school, supermarket, safety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2286000"/>
            <a:ext cx="109728" cy="4572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1040" y="2834640"/>
            <a:ext cx="3200400" cy="1645920"/>
          </a:xfrm>
          <a:prstGeom prst="round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503920" y="288036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Calculator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246120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E0B2"/>
                </a:solidFill>
                <a:latin typeface="Calibri"/>
              </a:defRPr>
            </a:pPr>
            <a:r>
              <a:t>Handles mortgage calculations.</a:t>
            </a:r>
            <a:br/>
            <a:r>
              <a:t>Estimates bruto maandlasten,</a:t>
            </a:r>
            <a:br/>
            <a:r>
              <a:t>hypotheek, kosten koper.</a:t>
            </a:r>
            <a:br/>
            <a:br/>
            <a:r>
              <a:t>Triggers: monthly, calculate,</a:t>
            </a:r>
            <a:br/>
            <a:r>
              <a:t>eigen inleg, maandlast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46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Georgia"/>
              </a:defRPr>
            </a:pPr>
            <a:r>
              <a:t>Agent-to-UI (A2UI) Directives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03520"/>
            <a:ext cx="3383280" cy="10972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949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E88E5"/>
                </a:solidFill>
                <a:latin typeface="Consolas"/>
              </a:defRPr>
            </a:pPr>
            <a:r>
              <a:t>show_map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150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Location agent triggers map tab with POI markers and route overlays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5303520"/>
            <a:ext cx="3383280" cy="10972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39" y="53949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E88E5"/>
                </a:solidFill>
                <a:latin typeface="Consolas"/>
              </a:defRPr>
            </a:pPr>
            <a:r>
              <a:t>show_calculator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39" y="57150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Calculator agent opens mortgage calculator with pre-filled parameters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598" y="5303520"/>
            <a:ext cx="3383280" cy="10972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8" y="53949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E88E5"/>
                </a:solidFill>
                <a:latin typeface="Consolas"/>
              </a:defRPr>
            </a:pPr>
            <a:r>
              <a:t>show_citations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8" y="57150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Retrieval agent renders expandable source panel with document excerpts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463040" cy="29260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CRITERION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2D2D2D"/>
                </a:solidFill>
                <a:latin typeface="Georgia"/>
              </a:defRPr>
            </a:pPr>
            <a:r>
              <a:t>Knowledge Graph &amp; Location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Georgia"/>
              </a:defRPr>
            </a:pPr>
            <a:r>
              <a:t>Knowledge Graph Extraction</a:t>
            </a:r>
          </a:p>
        </p:txBody>
      </p:sp>
      <p:sp>
        <p:nvSpPr>
          <p:cNvPr id="7" name="Oval 6"/>
          <p:cNvSpPr/>
          <p:nvPr/>
        </p:nvSpPr>
        <p:spPr>
          <a:xfrm>
            <a:off x="2286000" y="2286000"/>
            <a:ext cx="1280160" cy="73152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237744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Mortgage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200400"/>
            <a:ext cx="1280160" cy="73152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9184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NHG</a:t>
            </a:r>
          </a:p>
        </p:txBody>
      </p:sp>
      <p:sp>
        <p:nvSpPr>
          <p:cNvPr id="11" name="Oval 10"/>
          <p:cNvSpPr/>
          <p:nvPr/>
        </p:nvSpPr>
        <p:spPr>
          <a:xfrm>
            <a:off x="3657600" y="3200400"/>
            <a:ext cx="1280160" cy="731520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329184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Hypotheek-</a:t>
            </a:r>
            <a:br/>
            <a:r>
              <a:t>renteaftrek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4389120"/>
            <a:ext cx="1280160" cy="73152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48056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Belasting-</a:t>
            </a:r>
            <a:br/>
            <a:r>
              <a:t>dienst</a:t>
            </a:r>
          </a:p>
        </p:txBody>
      </p:sp>
      <p:sp>
        <p:nvSpPr>
          <p:cNvPr id="15" name="Oval 14"/>
          <p:cNvSpPr/>
          <p:nvPr/>
        </p:nvSpPr>
        <p:spPr>
          <a:xfrm>
            <a:off x="3200400" y="4389120"/>
            <a:ext cx="1280160" cy="73152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448056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Hypotheek-</a:t>
            </a:r>
            <a:br/>
            <a:r>
              <a:t>adviseur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7432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8D99AE"/>
                </a:solidFill>
                <a:latin typeface="Calibri"/>
              </a:defRPr>
            </a:pPr>
            <a:r>
              <a:t>guarantees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7432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8D99AE"/>
                </a:solidFill>
                <a:latin typeface="Calibri"/>
              </a:defRPr>
            </a:pPr>
            <a:r>
              <a:t>deduction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319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8D99AE"/>
                </a:solidFill>
                <a:latin typeface="Calibri"/>
              </a:defRPr>
            </a:pPr>
            <a:r>
              <a:t>oversees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9319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8D99AE"/>
                </a:solidFill>
                <a:latin typeface="Calibri"/>
              </a:defRPr>
            </a:pPr>
            <a:r>
              <a:t>advises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Entities &amp; relationships extracted from mortgage documents.</a:t>
            </a:r>
            <a:br/>
            <a:r>
              <a:t>Visualized with PyVis network graphs. Interactive, zoomable,</a:t>
            </a:r>
            <a:br/>
            <a:r>
              <a:t>and helps users understand domain connections.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Georgia"/>
              </a:defRPr>
            </a:pPr>
            <a:r>
              <a:t>Location Intelligence Tools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965960"/>
            <a:ext cx="73152" cy="2286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1920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Nearby POI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212848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10 categories: schools, grocery, hospitals,</a:t>
            </a:r>
            <a:br/>
            <a:r>
              <a:t>gyms, parks, restaurants, banks, transit...</a:t>
            </a:r>
            <a:br/>
            <a:r>
              <a:t>Radius-based with Overpass API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200400"/>
            <a:ext cx="73152" cy="2286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31546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Commute Routes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447288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OSRM routing for walk/bike/car profiles.</a:t>
            </a:r>
            <a:br/>
            <a:r>
              <a:t>Duration and distance calculations.</a:t>
            </a:r>
            <a:br/>
            <a:r>
              <a:t>Origin-to-destination optimization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434840"/>
            <a:ext cx="73152" cy="2286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389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Area Safety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681728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CBS/data.overheid.nl integration (placeholder).</a:t>
            </a:r>
            <a:br/>
            <a:r>
              <a:t>Wijk/buurt level safety scoring.</a:t>
            </a:r>
            <a:br/>
            <a:r>
              <a:t>Crime and livability indicators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5669280"/>
            <a:ext cx="73152" cy="2286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5623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Sun Orientation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916168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Solar position calculations for properties.</a:t>
            </a:r>
            <a:br/>
            <a:r>
              <a:t>Date slider + orientation control.</a:t>
            </a:r>
            <a:br/>
            <a:r>
              <a:t>Interactive SVG visualization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188720" cy="2926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CRITERION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2D2D2D"/>
                </a:solidFill>
                <a:latin typeface="Georgia"/>
              </a:defRPr>
            </a:pPr>
            <a:r>
              <a:t>Model Selection &amp; Technical Reasoning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Georgia"/>
              </a:defRPr>
            </a:pPr>
            <a:r>
              <a:t>Why RAG, Not Fine-Tuning?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212080" cy="4114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4767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RAG (Retrieval-Augmented Generation)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Documents can be updated without retraining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52928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Answers are grounded in real sources (citations)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36976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Works with any base LLM (swap models freely)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21024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Cost-effective: no GPU hours for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05072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Transparent: users see which documents were used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920240"/>
            <a:ext cx="5212080" cy="411480"/>
          </a:xfrm>
          <a:prstGeom prst="rect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4767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Fine-Tuning (Not Chosen)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68880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Requires curated training dataset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852928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Can hallucinate without source attribution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236976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Locked to specific model version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621024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Expensive compute for each update cycle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005072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"Black box" — hard to explain answers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Georgia"/>
              </a:defRPr>
            </a:pPr>
            <a:r>
              <a:t>Flexible Provider Abstraction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02920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2064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E88E5"/>
                </a:solidFill>
                <a:latin typeface="Calibri"/>
              </a:defRPr>
            </a:pPr>
            <a:r>
              <a:t>OpenAI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4068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onsolas"/>
              </a:defRPr>
            </a:pPr>
            <a:r>
              <a:t>gpt-4o-mini, gpt-4o,</a:t>
            </a:r>
            <a:br/>
            <a:r>
              <a:t>gpt-4-turbo, gpt-3.5-turbo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9893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Best quality, API-based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59" y="502920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39" y="512064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0BCD4"/>
                </a:solidFill>
                <a:latin typeface="Calibri"/>
              </a:defRPr>
            </a:pPr>
            <a:r>
              <a:t>OpenRouter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39" y="544068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onsolas"/>
              </a:defRPr>
            </a:pPr>
            <a:r>
              <a:t>claude-3.5-sonnet,</a:t>
            </a:r>
            <a:br/>
            <a:r>
              <a:t>gemini-2.0-flash, nemotron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39" y="59893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Multi-model gateway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598" y="502920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8" y="512064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43A047"/>
                </a:solidFill>
                <a:latin typeface="Calibri"/>
              </a:defRPr>
            </a:pPr>
            <a:r>
              <a:t>Ollama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8" y="544068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onsolas"/>
              </a:defRPr>
            </a:pPr>
            <a:r>
              <a:t>llama3.2:3b, llama3.1:8b,</a:t>
            </a:r>
            <a:br/>
            <a:r>
              <a:t>qwen2.5:7b-instruct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8" y="59893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Local, privacy-first, free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188720" cy="29260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CRITERION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2D2D2D"/>
                </a:solidFill>
                <a:latin typeface="Georgia"/>
              </a:defRPr>
            </a:pPr>
            <a:r>
              <a:t>Training, Evaluation &amp;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8D99AE"/>
                </a:solidFill>
                <a:latin typeface="Calibri"/>
              </a:defRPr>
            </a:pPr>
            <a:r>
              <a:t>RAGAS evaluation framework with golden dataset and continuous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Georgia"/>
              </a:defRPr>
            </a:pPr>
            <a:r>
              <a:t>RAGAS Evaluation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5200" b="1">
                <a:solidFill>
                  <a:srgbClr val="43A047"/>
                </a:solidFill>
                <a:latin typeface="Consolas"/>
              </a:defRPr>
            </a:pPr>
            <a:r>
              <a:t>0.77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8D99AE"/>
                </a:solidFill>
                <a:latin typeface="Calibri"/>
              </a:defRPr>
            </a:pPr>
            <a:r>
              <a:t>Faithfulness (mean)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0312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5200" b="1">
                <a:solidFill>
                  <a:srgbClr val="1E88E5"/>
                </a:solidFill>
                <a:latin typeface="Consolas"/>
              </a:defRPr>
            </a:pPr>
            <a:r>
              <a:t>1.00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8803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8D99AE"/>
                </a:solidFill>
                <a:latin typeface="Calibri"/>
              </a:defRPr>
            </a:pPr>
            <a:r>
              <a:t>Answer Relevancy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Golden Dataset (3 QA Pairs)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517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Q: Can I deduct mortgage interest?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Tests: tax knowledge, hypotheekrenteaftrek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918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Q: What is NHG?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661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Tests: financial product knowledge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931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Q: Who helps expats with mortgages?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2062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Tests: service provider retrieval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Georgia"/>
              </a:defRPr>
            </a:pPr>
            <a:r>
              <a:t>Continuous Monitoring Pipeline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663440"/>
            <a:ext cx="1600200" cy="8229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User Query</a:t>
            </a:r>
            <a:br/>
            <a:r>
              <a:t>Processed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084832" y="4937760"/>
            <a:ext cx="201168" cy="182880"/>
          </a:xfrm>
          <a:prstGeom prst="rightArrow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331719" y="4663440"/>
            <a:ext cx="1600200" cy="82296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Retrieval</a:t>
            </a:r>
            <a:br/>
            <a:r>
              <a:t>Score Logged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959351" y="4937760"/>
            <a:ext cx="201168" cy="182880"/>
          </a:xfrm>
          <a:prstGeom prst="rightArrow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06238" y="4663440"/>
            <a:ext cx="1600200" cy="82296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Response</a:t>
            </a:r>
            <a:br/>
            <a:r>
              <a:t>Score Logged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833870" y="4937760"/>
            <a:ext cx="201168" cy="182880"/>
          </a:xfrm>
          <a:prstGeom prst="rightArrow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80757" y="4663440"/>
            <a:ext cx="1600200" cy="82296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Latency</a:t>
            </a:r>
            <a:br/>
            <a:r>
              <a:t>Recorded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708389" y="4937760"/>
            <a:ext cx="201168" cy="182880"/>
          </a:xfrm>
          <a:prstGeom prst="rightArrow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55276" y="4663440"/>
            <a:ext cx="1600200" cy="822960"/>
          </a:xfrm>
          <a:prstGeom prst="round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Tool Usage</a:t>
            </a:r>
            <a:br/>
            <a:r>
              <a:t>Counted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582908" y="4937760"/>
            <a:ext cx="201168" cy="182880"/>
          </a:xfrm>
          <a:prstGeom prst="rightArrow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829795" y="4663440"/>
            <a:ext cx="1600200" cy="82296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Drift</a:t>
            </a:r>
            <a:br/>
            <a:r>
              <a:t>Detection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7607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8D99AE"/>
                </a:solidFill>
                <a:latin typeface="Calibri"/>
              </a:defRPr>
            </a:pPr>
            <a:r>
              <a:t>Tracked: retrieval_scores (last 100) | response_scores (last 100) | request_latencies_ms (last 200) | tool_usage_counts | drift trend (up/stable/down)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188720" cy="29260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CRITERION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2D2D2D"/>
                </a:solidFill>
                <a:latin typeface="Georgia"/>
              </a:defRPr>
            </a:pPr>
            <a:r>
              <a:t>Model Performance &amp;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8D99AE"/>
                </a:solidFill>
                <a:latin typeface="Calibri"/>
              </a:defRPr>
            </a:pPr>
            <a:r>
              <a:t>Understanding what the model does well and where it needs 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>
                <a:solidFill>
                  <a:srgbClr val="43A047"/>
                </a:solidFill>
                <a:latin typeface="Georgia"/>
              </a:defRPr>
            </a:pPr>
            <a:r>
              <a:t>Strengths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66544"/>
            <a:ext cx="73152" cy="1828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High answer relevancy (1.0) — responses directly address the query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42032"/>
            <a:ext cx="73152" cy="1828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87168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Cited sources — users can verify every claim against original documents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017520"/>
            <a:ext cx="73152" cy="1828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962656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Hybrid retrieval catches both semantic and keyword matches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93008"/>
            <a:ext cx="73152" cy="1828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438144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Multi-provider fallback — if OpenAI is down, switch to OpenRouter/Ollama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968496"/>
            <a:ext cx="73152" cy="1828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913632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Streaming responses — users see answers build in real-time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>
                <a:solidFill>
                  <a:srgbClr val="E53935"/>
                </a:solidFill>
                <a:latin typeface="Georgia"/>
              </a:defRPr>
            </a:pPr>
            <a:r>
              <a:t>Known Limitations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066544"/>
            <a:ext cx="73152" cy="18288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01168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Faithfulness at 0.77 — room for improvement via prompt tuning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542032"/>
            <a:ext cx="73152" cy="18288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487168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Golden dataset is small (3 pairs) — needs expansion for robustness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017520"/>
            <a:ext cx="73152" cy="18288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962656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No A/B testing framework for prompt variants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493008"/>
            <a:ext cx="73152" cy="18288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438144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Drift detection is naive (mean comparison, not statistical)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968496"/>
            <a:ext cx="73152" cy="18288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3913632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No user feedback loop yet (thumbs up/down not wired)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572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Georgia"/>
              </a:defRPr>
            </a:pPr>
            <a:r>
              <a:t>Improvement Plan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029200"/>
            <a:ext cx="274320" cy="274320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0292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Expand golden dataset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502920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Target: 50+ QA pairs covering all mortgage topics and edge cases</a:t>
            </a:r>
          </a:p>
        </p:txBody>
      </p:sp>
      <p:sp>
        <p:nvSpPr>
          <p:cNvPr id="33" name="Oval 32"/>
          <p:cNvSpPr/>
          <p:nvPr/>
        </p:nvSpPr>
        <p:spPr>
          <a:xfrm>
            <a:off x="6309360" y="5029200"/>
            <a:ext cx="274320" cy="274320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50292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Wire Langfuse tracing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502920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Track per-request faithfulness, latency, and token usage in production</a:t>
            </a:r>
          </a:p>
        </p:txBody>
      </p:sp>
      <p:sp>
        <p:nvSpPr>
          <p:cNvPr id="36" name="Oval 35"/>
          <p:cNvSpPr/>
          <p:nvPr/>
        </p:nvSpPr>
        <p:spPr>
          <a:xfrm>
            <a:off x="731520" y="5806440"/>
            <a:ext cx="274320" cy="274320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58064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Add user feedback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580644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Thumbs up/down on each response feeds back into retrieval quality scoring</a:t>
            </a:r>
          </a:p>
        </p:txBody>
      </p:sp>
      <p:sp>
        <p:nvSpPr>
          <p:cNvPr id="39" name="Oval 38"/>
          <p:cNvSpPr/>
          <p:nvPr/>
        </p:nvSpPr>
        <p:spPr>
          <a:xfrm>
            <a:off x="6309360" y="5806440"/>
            <a:ext cx="274320" cy="274320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58064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Statistical drift tests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580644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Replace mean comparison with t-test and CUSUM for early anomaly detection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188720" cy="29260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CRITERION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Georgia"/>
              </a:defRPr>
            </a:pPr>
            <a:r>
              <a:t>Database-AI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8D99AE"/>
                </a:solidFill>
                <a:latin typeface="Calibri"/>
              </a:defRPr>
            </a:pPr>
            <a:r>
              <a:t>End-to-end data flow from PDF ingestion through AI processing to stored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0BCD4"/>
                </a:solidFill>
                <a:latin typeface="Calibri"/>
              </a:defRPr>
            </a:pPr>
            <a:r>
              <a:t>INGESTION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1645920" cy="7315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PDF</a:t>
            </a:r>
            <a:br/>
            <a:r>
              <a:t>Upload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48840" y="2514600"/>
            <a:ext cx="502920" cy="228600"/>
          </a:xfrm>
          <a:prstGeom prst="rightArrow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97480" y="2286000"/>
            <a:ext cx="1645920" cy="73152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pypdf</a:t>
            </a:r>
            <a:br/>
            <a:r>
              <a:t>Extract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389120" y="2514600"/>
            <a:ext cx="502920" cy="228600"/>
          </a:xfrm>
          <a:prstGeom prst="rightArrow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37760" y="2286000"/>
            <a:ext cx="1645920" cy="7315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Semantic</a:t>
            </a:r>
            <a:br/>
            <a:r>
              <a:t>Chunk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629400" y="2514600"/>
            <a:ext cx="502920" cy="228600"/>
          </a:xfrm>
          <a:prstGeom prst="rightArrow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78040" y="2286000"/>
            <a:ext cx="1645920" cy="73152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OpenAI</a:t>
            </a:r>
            <a:br/>
            <a:r>
              <a:t>Embed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869680" y="2514600"/>
            <a:ext cx="502920" cy="228600"/>
          </a:xfrm>
          <a:prstGeom prst="rightArrow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418320" y="2286000"/>
            <a:ext cx="1645920" cy="731520"/>
          </a:xfrm>
          <a:prstGeom prst="round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Qdrant</a:t>
            </a:r>
            <a:br/>
            <a:r>
              <a:t>Upsert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0BCD4"/>
                </a:solidFill>
                <a:latin typeface="Calibri"/>
              </a:defRPr>
            </a:pPr>
            <a:r>
              <a:t>QUERY PIPELINE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49039"/>
            <a:ext cx="1645920" cy="7315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User</a:t>
            </a:r>
            <a:br/>
            <a:r>
              <a:t>Query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148840" y="3977639"/>
            <a:ext cx="502920" cy="228600"/>
          </a:xfrm>
          <a:prstGeom prst="rightArrow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97480" y="3749039"/>
            <a:ext cx="1645920" cy="73152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Embed</a:t>
            </a:r>
            <a:br/>
            <a:r>
              <a:t>Query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389120" y="3977639"/>
            <a:ext cx="502920" cy="228600"/>
          </a:xfrm>
          <a:prstGeom prst="rightArrow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937760" y="3749039"/>
            <a:ext cx="1645920" cy="7315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Hybrid</a:t>
            </a:r>
            <a:br/>
            <a:r>
              <a:t>Search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629400" y="3977639"/>
            <a:ext cx="502920" cy="228600"/>
          </a:xfrm>
          <a:prstGeom prst="rightArrow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78040" y="3749039"/>
            <a:ext cx="1645920" cy="73152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LLM</a:t>
            </a:r>
            <a:br/>
            <a:r>
              <a:t>Reasoning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869680" y="3977639"/>
            <a:ext cx="502920" cy="228600"/>
          </a:xfrm>
          <a:prstGeom prst="rightArrow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18320" y="3749039"/>
            <a:ext cx="1645920" cy="731520"/>
          </a:xfrm>
          <a:prstGeom prst="round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Cited</a:t>
            </a:r>
            <a:br/>
            <a:r>
              <a:t>Answer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8463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0BCD4"/>
                </a:solidFill>
                <a:latin typeface="Calibri"/>
              </a:defRPr>
            </a:pPr>
            <a:r>
              <a:t>Data Persistence Layer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212080"/>
            <a:ext cx="2560320" cy="1280160"/>
          </a:xfrm>
          <a:prstGeom prst="roundRect">
            <a:avLst/>
          </a:prstGeom>
          <a:solidFill>
            <a:srgbClr val="12243E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303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E88E5"/>
                </a:solidFill>
                <a:latin typeface="Calibri"/>
              </a:defRPr>
            </a:pPr>
            <a:r>
              <a:t>Qdrant Vector 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62356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Chunks + embeddings (1536-dim)</a:t>
            </a:r>
            <a:br/>
            <a:r>
              <a:t>Cosine distance, batch upsert</a:t>
            </a:r>
            <a:br/>
            <a:r>
              <a:t>Source metadata for citations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37560" y="5212080"/>
            <a:ext cx="2560320" cy="1280160"/>
          </a:xfrm>
          <a:prstGeom prst="roundRect">
            <a:avLst/>
          </a:prstGeom>
          <a:solidFill>
            <a:srgbClr val="12243E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5303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Calibri"/>
              </a:defRPr>
            </a:pPr>
            <a:r>
              <a:t>JSON Metrics Store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562356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rag_metrics.json persistence</a:t>
            </a:r>
            <a:br/>
            <a:r>
              <a:t>Retrieval/response scores</a:t>
            </a:r>
            <a:br/>
            <a:r>
              <a:t>Latencies and tool usage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5212080"/>
            <a:ext cx="2560320" cy="1280160"/>
          </a:xfrm>
          <a:prstGeom prst="roundRect">
            <a:avLst/>
          </a:prstGeom>
          <a:solidFill>
            <a:srgbClr val="12243E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5303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43A047"/>
                </a:solidFill>
                <a:latin typeface="Calibri"/>
              </a:defRPr>
            </a:pPr>
            <a:r>
              <a:t>Golden Dataset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62356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golden_rag.json (3 QA pairs)</a:t>
            </a:r>
            <a:br/>
            <a:r>
              <a:t>ragas_scores.json (eval results)</a:t>
            </a:r>
            <a:br/>
            <a:r>
              <a:t>Reference answers + contexts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98280" y="5212080"/>
            <a:ext cx="2560320" cy="1280160"/>
          </a:xfrm>
          <a:prstGeom prst="roundRect">
            <a:avLst/>
          </a:prstGeom>
          <a:solidFill>
            <a:srgbClr val="12243E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5303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6F00"/>
                </a:solidFill>
                <a:latin typeface="Calibri"/>
              </a:defRPr>
            </a:pPr>
            <a:r>
              <a:t>Session State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562356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Streamlit session for chat history</a:t>
            </a:r>
            <a:br/>
            <a:r>
              <a:t>Provider/model selection</a:t>
            </a:r>
            <a:br/>
            <a:r>
              <a:t>UI preferences persistence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188720" cy="29260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CRITERION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2D2D2D"/>
                </a:solidFill>
                <a:latin typeface="Georgia"/>
              </a:defRPr>
            </a:pPr>
            <a:r>
              <a:t>Qdrant Vector Database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Georgia"/>
              </a:defRPr>
            </a:pPr>
            <a:r>
              <a:t>Document Storage Schema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029200" cy="3200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6634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Collection: property_docs</a:t>
            </a:r>
            <a:br/>
            <a:br/>
            <a:r>
              <a:t>Point Structure:</a:t>
            </a:r>
            <a:br/>
            <a:r>
              <a:t>  id:      UUID (auto-generated)</a:t>
            </a:r>
            <a:br/>
            <a:r>
              <a:t>  vector:  float[1536]  (cosine)</a:t>
            </a:r>
            <a:br/>
            <a:r>
              <a:t>  payload:</a:t>
            </a:r>
            <a:br/>
            <a:r>
              <a:t>    text:   str   (chunk content)</a:t>
            </a:r>
            <a:br/>
            <a:r>
              <a:t>    source: str   (PDF filename)</a:t>
            </a:r>
            <a:br/>
            <a:br/>
            <a:r>
              <a:t>Operations:</a:t>
            </a:r>
            <a:br/>
            <a:r>
              <a:t>  create_collection()  # if not exists</a:t>
            </a:r>
            <a:br/>
            <a:r>
              <a:t>  delete(source=...)   # remove old chunks</a:t>
            </a:r>
            <a:br/>
            <a:r>
              <a:t>  upsert(batch=100)    # batch embedding</a:t>
            </a:r>
            <a:br/>
            <a:r>
              <a:t>  search(vector, limit) # cosine 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Georgia"/>
              </a:defRPr>
            </a:pPr>
            <a:r>
              <a:t>Search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E88E5"/>
                </a:solidFill>
                <a:latin typeface="Consolas"/>
              </a:defRPr>
            </a:pPr>
            <a:r>
              <a:t>1. Embed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text-embedding-3-small converts query to 1536-dim vector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1460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E88E5"/>
                </a:solidFill>
                <a:latin typeface="Consolas"/>
              </a:defRPr>
            </a:pPr>
            <a:r>
              <a:t>2. Vector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88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Qdrant returns top-30 nearest neighbors by cosine similarity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0896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E88E5"/>
                </a:solidFill>
                <a:latin typeface="Consolas"/>
              </a:defRPr>
            </a:pPr>
            <a:r>
              <a:t>3. Keyword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832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Each result scored by query term frequency in chunk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70332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E88E5"/>
                </a:solidFill>
                <a:latin typeface="Consolas"/>
              </a:defRPr>
            </a:pPr>
            <a:r>
              <a:t>4. RRF merge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9776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Reciprocal Rank Fusion combines both rankings (k=60)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29768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E88E5"/>
                </a:solidFill>
                <a:latin typeface="Consolas"/>
              </a:defRPr>
            </a:pPr>
            <a:r>
              <a:t>5. Top-N select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5720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Final top-N chunks returned (configurable 3-20, default 10)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89204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E88E5"/>
                </a:solidFill>
                <a:latin typeface="Consolas"/>
              </a:defRPr>
            </a:pPr>
            <a:r>
              <a:t>6. Build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1663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Chunks formatted with source citations for LLM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E88E5"/>
                </a:solidFill>
                <a:latin typeface="Consolas"/>
              </a:defRPr>
            </a:pPr>
            <a:r>
              <a:t>7. Store metrics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7607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Retrieval score + latency recorded for monitoring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188720" cy="29260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CRITERION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2D2D2D"/>
                </a:solidFill>
                <a:latin typeface="Georgia"/>
              </a:defRPr>
            </a:pPr>
            <a:r>
              <a:t>Business Impact &amp; Practical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8D99AE"/>
                </a:solidFill>
                <a:latin typeface="Calibri"/>
              </a:defRPr>
            </a:pPr>
            <a:r>
              <a:t>Turning AI capabilities into actionable decisions for real 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94560" y="1691640"/>
            <a:ext cx="457200" cy="45720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  <a:latin typeface="Calibri"/>
              </a:defRPr>
            </a:pPr>
            <a:r>
              <a:t>Expat Home Buyers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8D99AE"/>
                </a:solidFill>
                <a:latin typeface="Calibri"/>
              </a:defRPr>
            </a:pPr>
            <a:r>
              <a:t>Get instant, cited answers about Dutch mortgage rules, tax deductions, and NHG eligibility — in English.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64592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43599" y="1691640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2860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  <a:latin typeface="Calibri"/>
              </a:defRPr>
            </a:pPr>
            <a:r>
              <a:t>Mortgage Advisors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265176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8D99AE"/>
                </a:solidFill>
                <a:latin typeface="Calibri"/>
              </a:defRPr>
            </a:pPr>
            <a:r>
              <a:t>Pre-screen client questions, quickly look up regulations, reduce time per consultation.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8" y="164592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38" y="1691640"/>
            <a:ext cx="457200" cy="457200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8" y="22860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  <a:latin typeface="Calibri"/>
              </a:defRPr>
            </a:pPr>
            <a:r>
              <a:t>Real Estate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8" y="265176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8D99AE"/>
                </a:solidFill>
                <a:latin typeface="Calibri"/>
              </a:defRPr>
            </a:pPr>
            <a:r>
              <a:t>Help international clients understand buying costs (kosten koper), property analysis, and nearby amenities.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57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Georgia"/>
              </a:defRPr>
            </a:pPr>
            <a:r>
              <a:t>Actionable Outputs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114800"/>
            <a:ext cx="521208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169664"/>
            <a:ext cx="521208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297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Calibri"/>
              </a:defRPr>
            </a:pPr>
            <a:r>
              <a:t>Cited Q&amp;A Responses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6634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Every answer links back to the specific document and paragraph. Users verify claims before making decisions.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114800"/>
            <a:ext cx="521208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4169664"/>
            <a:ext cx="521208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297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Calibri"/>
              </a:defRPr>
            </a:pPr>
            <a:r>
              <a:t>Mortgage Cost Estimates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6634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Quick calculation of bruto maandlasten, hypotheek amount, and kosten koper. Helps set budget expectations.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303520"/>
            <a:ext cx="521208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358384"/>
            <a:ext cx="521208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4864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Calibri"/>
              </a:defRPr>
            </a:pPr>
            <a:r>
              <a:t>Location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8521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Map of nearby schools, grocery stores, hospitals, transit. Commute time calculations. Area comparison.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5303520"/>
            <a:ext cx="521208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5358384"/>
            <a:ext cx="521208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54864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Calibri"/>
              </a:defRPr>
            </a:pPr>
            <a:r>
              <a:t>Knowledge Visualization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58521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D99AE"/>
                </a:solidFill>
                <a:latin typeface="Calibri"/>
              </a:defRPr>
            </a:pPr>
            <a:r>
              <a:t>Interactive knowledge graph shows how mortgage concepts connect. Helps newcomers learn the Dutch system.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188720" cy="29260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CRITERION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2D2D2D"/>
                </a:solidFill>
                <a:latin typeface="Georgia"/>
              </a:defRPr>
            </a:pPr>
            <a:r>
              <a:t>Real-World Use Case Scenarios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E88E5"/>
                </a:solidFill>
                <a:latin typeface="Calibri"/>
              </a:defRPr>
            </a:pPr>
            <a:r>
              <a:t>Scenario 1: Tax Deduction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Georgia"/>
              </a:defRPr>
            </a:pPr>
            <a:r>
              <a:t>"Can I deduct mortgage interest as a 30% ruling holder?"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RAG retrieves hypotheekrenteaftrek docs + 30% ruling specifics.</a:t>
            </a:r>
            <a:br/>
            <a:r>
              <a:t>LLM generates cited answer explaining eligibility and conditions.</a:t>
            </a:r>
            <a:br/>
            <a:r>
              <a:t>User sees exact source paragraphs for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43A047"/>
                </a:solidFill>
                <a:latin typeface="Calibri"/>
              </a:defRPr>
            </a:pPr>
            <a:r>
              <a:t>Scenario 2: Property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Georgia"/>
              </a:defRPr>
            </a:pPr>
            <a:r>
              <a:t>"Compare schools and commute near Amstelveen vs. Haarlem"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Location agent geocodes both areas, queries Overpass for schools.</a:t>
            </a:r>
            <a:br/>
            <a:r>
              <a:t>OSRM calculates commute to Amsterdam Centraal from each.</a:t>
            </a:r>
            <a:br/>
            <a:r>
              <a:t>Map renders POI markers with distance/duration overlays.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6F00"/>
                </a:solidFill>
                <a:latin typeface="Calibri"/>
              </a:defRPr>
            </a:pPr>
            <a:r>
              <a:t>Scenario 3: Budget Planning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Georgia"/>
              </a:defRPr>
            </a:pPr>
            <a:r>
              <a:t>"What can I afford with 80K salary and 50K savings?"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Calculator estimates hypotheek based on income multiples.</a:t>
            </a:r>
            <a:br/>
            <a:r>
              <a:t>Shows kosten koper (~6% of bid), eigen inleg allocation.</a:t>
            </a:r>
            <a:br/>
            <a:r>
              <a:t>Retrieval adds context about NHG limits and energielabel impact.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02336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11480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0BCD4"/>
                </a:solidFill>
                <a:latin typeface="Calibri"/>
              </a:defRPr>
            </a:pPr>
            <a:r>
              <a:t>Scenario 4: First-Time Buyer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4805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Georgia"/>
              </a:defRPr>
            </a:pPr>
            <a:r>
              <a:t>"Explain the Dutch mortgage process for an expat"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93776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Retrieval pulls comprehensive process docs.</a:t>
            </a:r>
            <a:br/>
            <a:r>
              <a:t>Knowledge graph shows entity relationships (NHG, adviseur, etc.).</a:t>
            </a:r>
            <a:br/>
            <a:r>
              <a:t>A2UI renders both citations and KG tab for deep exploration.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188720" cy="29260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CRITERION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2D2D2D"/>
                </a:solidFill>
                <a:latin typeface="Georgia"/>
              </a:defRPr>
            </a:pPr>
            <a:r>
              <a:t>Streamlit UI: 9 Interactive Tabs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8D99AE"/>
                </a:solidFill>
                <a:latin typeface="Calibri"/>
              </a:defRPr>
            </a:pPr>
            <a:r>
              <a:t>Rich user interface with real-time AI responses and interactive visualizations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755648"/>
            <a:ext cx="1097280" cy="25603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5564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RAG conversation with streaming</a:t>
            </a:r>
            <a:br/>
            <a:r>
              <a:t>responses, tools used display,</a:t>
            </a:r>
            <a:br/>
            <a:r>
              <a:t>and expandable source citations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64592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19" y="1755648"/>
            <a:ext cx="1097280" cy="256032"/>
          </a:xfrm>
          <a:prstGeom prst="round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19" y="175564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Calculator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19" y="21031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ING-style mortgage estimation.</a:t>
            </a:r>
            <a:br/>
            <a:r>
              <a:t>Bid, eigen inleg, woning type,</a:t>
            </a:r>
            <a:br/>
            <a:r>
              <a:t>energielabel dropdown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8" y="164592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58" y="1755648"/>
            <a:ext cx="1097280" cy="256032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58" y="175564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8" y="21031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Nearby facilities by category</a:t>
            </a:r>
            <a:br/>
            <a:r>
              <a:t>(walk/bike/car). PyDeck or</a:t>
            </a:r>
            <a:br/>
            <a:r>
              <a:t>Folium interactive map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9184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3401568"/>
            <a:ext cx="1097280" cy="256032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40156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Documents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7490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PDF upload with text extraction.</a:t>
            </a:r>
            <a:br/>
            <a:r>
              <a:t>Optional KG extraction on</a:t>
            </a:r>
            <a:br/>
            <a:r>
              <a:t>ingestion. Document list 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329184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17719" y="3401568"/>
            <a:ext cx="1097280" cy="256032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19" y="340156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Knowledge Graph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19" y="37490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PyVis network visualization.</a:t>
            </a:r>
            <a:br/>
            <a:r>
              <a:t>Entities and relationships from</a:t>
            </a:r>
            <a:br/>
            <a:r>
              <a:t>mortgage domain. Interactive zoom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598" y="329184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66758" y="3401568"/>
            <a:ext cx="1097280" cy="256032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58" y="340156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Location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8" y="37490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Nearby POI search (10 categories).</a:t>
            </a:r>
            <a:br/>
            <a:r>
              <a:t>OSRM commute calculation.</a:t>
            </a:r>
            <a:br/>
            <a:r>
              <a:t>Area safety information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93776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68680" y="5047488"/>
            <a:ext cx="1097280" cy="256032"/>
          </a:xfrm>
          <a:prstGeom prst="round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0474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Sun Orientation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3949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Solar position for properties.</a:t>
            </a:r>
            <a:br/>
            <a:r>
              <a:t>Date slider + orientation control.</a:t>
            </a:r>
            <a:br/>
            <a:r>
              <a:t>Interactive SVG diagram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80559" y="493776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617719" y="5047488"/>
            <a:ext cx="1097280" cy="25603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17719" y="50474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Observability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19" y="53949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Langfuse link, token tracking,</a:t>
            </a:r>
            <a:br/>
            <a:r>
              <a:t>retrieval/response quality,</a:t>
            </a:r>
            <a:br/>
            <a:r>
              <a:t>drift indicators dashboard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598" y="493776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366758" y="5047488"/>
            <a:ext cx="1097280" cy="256032"/>
          </a:xfrm>
          <a:prstGeom prst="roundRect">
            <a:avLst/>
          </a:prstGeom>
          <a:solidFill>
            <a:srgbClr val="12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6758" y="50474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Agents (P4)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58" y="53949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MCP tools registry display.</a:t>
            </a:r>
            <a:br/>
            <a:r>
              <a:t>Phase 4 orchestrator config.</a:t>
            </a:r>
            <a:br/>
            <a:r>
              <a:t>Specialist agent status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188720" cy="2926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CRITERION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2D2D2D"/>
                </a:solidFill>
                <a:latin typeface="Georgia"/>
              </a:defRPr>
            </a:pPr>
            <a:r>
              <a:t>Documentation &amp; Explainability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8D99AE"/>
                </a:solidFill>
                <a:latin typeface="Calibri"/>
              </a:defRPr>
            </a:pPr>
            <a:r>
              <a:t>Clear project structure, comprehensive docs, and responsible AI practices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Georgia"/>
              </a:defRPr>
            </a:pPr>
            <a:r>
              <a:t>Project 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5029200" cy="4206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app.py                    Main entry point (Phase 1-4)</a:t>
            </a:r>
            <a:br/>
            <a:r>
              <a:t>lib/</a:t>
            </a:r>
            <a:br/>
            <a:r>
              <a:t>  retrieval.py            Hybrid search + RRF</a:t>
            </a:r>
            <a:br/>
            <a:r>
              <a:t>  chunking.py             Semantic chunking</a:t>
            </a:r>
            <a:br/>
            <a:r>
              <a:t>  documents.py            PDF extraction + Qdrant</a:t>
            </a:r>
            <a:br/>
            <a:r>
              <a:t>  provider.py             LLM provider abstraction</a:t>
            </a:r>
            <a:br/>
            <a:r>
              <a:t>  agents.py               Multi-agent orchestrator</a:t>
            </a:r>
            <a:br/>
            <a:r>
              <a:t>  graph_kg.py             Knowledge graph extraction</a:t>
            </a:r>
            <a:br/>
            <a:r>
              <a:t>  location.py             Nominatim + OSRM tools</a:t>
            </a:r>
            <a:br/>
            <a:r>
              <a:t>  sun_orientation.py      Solar position calculations</a:t>
            </a:r>
            <a:br/>
            <a:r>
              <a:t>  a2ui.py                 Agent-to-UI directives</a:t>
            </a:r>
            <a:br/>
            <a:r>
              <a:t>  mcp_client.py           MCP tool registry</a:t>
            </a:r>
            <a:br/>
            <a:r>
              <a:t>monitoring/               Drift detection + metrics</a:t>
            </a:r>
            <a:br/>
            <a:r>
              <a:t>scripts/                  Ingestion, testing, evals</a:t>
            </a:r>
            <a:br/>
            <a:r>
              <a:t>tests/                    pytest suite</a:t>
            </a:r>
            <a:br/>
            <a:r>
              <a:t>data/                     Golden dataset + RAGAS scores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Georgia"/>
              </a:defRPr>
            </a:pPr>
            <a:r>
              <a:t>Documentation Artifacts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11680"/>
            <a:ext cx="1463040" cy="25603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PHASES.md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993392"/>
            <a:ext cx="731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1E88E5"/>
                </a:solidFill>
                <a:latin typeface="Calibri"/>
              </a:defRPr>
            </a:pPr>
            <a:r>
              <a:t>690 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0428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Comprehensive 4-phase roadmap with</a:t>
            </a:r>
            <a:br/>
            <a:r>
              <a:t>features, architecture, and milestones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788920"/>
            <a:ext cx="1463040" cy="25603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7889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DEPLOYMENT.md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770632"/>
            <a:ext cx="731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1E88E5"/>
                </a:solidFill>
                <a:latin typeface="Calibri"/>
              </a:defRPr>
            </a:pPr>
            <a:r>
              <a:t>Detailed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8152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Deployment guides for Streamlit Cloud,</a:t>
            </a:r>
            <a:br/>
            <a:r>
              <a:t>Hugging Face Spaces, and Render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566160"/>
            <a:ext cx="1463040" cy="25603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56616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README.md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547872"/>
            <a:ext cx="731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1E88E5"/>
                </a:solidFill>
                <a:latin typeface="Calibri"/>
              </a:defRPr>
            </a:pPr>
            <a:r>
              <a:t>Quick 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8587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Setup instructions, project overview,</a:t>
            </a:r>
            <a:br/>
            <a:r>
              <a:t>and module descriptions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343400"/>
            <a:ext cx="1463040" cy="25603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3434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.env.example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4325112"/>
            <a:ext cx="731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1E88E5"/>
                </a:solidFill>
                <a:latin typeface="Calibri"/>
              </a:defRPr>
            </a:pPr>
            <a:r>
              <a:t>30+ vars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63600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Complete configuration template with</a:t>
            </a:r>
            <a:br/>
            <a:r>
              <a:t>all required and optional variables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120640"/>
            <a:ext cx="1463040" cy="25603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12064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RESPONSIBLE_AI.md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5102352"/>
            <a:ext cx="731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1E88E5"/>
                </a:solidFill>
                <a:latin typeface="Calibri"/>
              </a:defRPr>
            </a:pPr>
            <a:r>
              <a:t>Policy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41324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Transparency, fairness, and limitations</a:t>
            </a:r>
            <a:br/>
            <a:r>
              <a:t>disclosure for AI-generated advice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5897880"/>
            <a:ext cx="1463040" cy="25603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89788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CI/CD Pipeline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5879592"/>
            <a:ext cx="731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1E88E5"/>
                </a:solidFill>
                <a:latin typeface="Calibri"/>
              </a:defRPr>
            </a:pPr>
            <a:r>
              <a:t>.github/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619048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Automated linting (ruff) and testing</a:t>
            </a:r>
            <a:br/>
            <a:r>
              <a:t>(pytest) on every push/PR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188720" cy="2926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CRITERION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2D2D2D"/>
                </a:solidFill>
                <a:latin typeface="Georgia"/>
              </a:defRPr>
            </a:pPr>
            <a:r>
              <a:t>Reproducibility &amp; Getting 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Georgia"/>
              </a:defRPr>
            </a:pPr>
            <a:r>
              <a:t>5-Step Quick Start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20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Clone &amp; Configure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4028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onsolas"/>
              </a:defRPr>
            </a:pPr>
            <a:r>
              <a:t>cp .env.example .env</a:t>
            </a:r>
            <a:br/>
            <a:r>
              <a:t>Set OPENAI_API_KEY and QDRANT_URL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834640"/>
            <a:ext cx="457200" cy="45720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834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Install Dependencies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5468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onsolas"/>
              </a:defRPr>
            </a:pPr>
            <a:r>
              <a:t>pip install -r requirements.txt</a:t>
            </a:r>
            <a:br/>
            <a:r>
              <a:t>(48 packages, all pinned versions)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749040"/>
            <a:ext cx="457200" cy="45720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490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Start Qdrant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06908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onsolas"/>
              </a:defRPr>
            </a:pPr>
            <a:r>
              <a:t>docker run -p 6333:6333 qdrant/qdrant</a:t>
            </a:r>
            <a:br/>
            <a:r>
              <a:t>(or use Qdrant Cloud hosted)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663440"/>
            <a:ext cx="457200" cy="45720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663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Ingest Documents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98348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onsolas"/>
              </a:defRPr>
            </a:pPr>
            <a:r>
              <a:t>python scripts/ingest_docs.py</a:t>
            </a:r>
            <a:br/>
            <a:r>
              <a:t>(PDFs → chunks → embeddings → Qdrant)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5577840"/>
            <a:ext cx="457200" cy="45720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5778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Launch 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89788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onsolas"/>
              </a:defRPr>
            </a:pPr>
            <a:r>
              <a:t>streamlit run app.py</a:t>
            </a:r>
            <a:br/>
            <a:r>
              <a:t>(opens at http://localhost:8501)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Georgia"/>
              </a:defRPr>
            </a:pPr>
            <a:r>
              <a:t>Deployment Platforms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011680"/>
            <a:ext cx="5029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1031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E88E5"/>
                </a:solidFill>
                <a:latin typeface="Calibri"/>
              </a:defRPr>
            </a:pPr>
            <a:r>
              <a:t>Local Development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210312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Docker + Streamlit</a:t>
            </a:r>
            <a:br/>
            <a:r>
              <a:t>Full control, all features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154680"/>
            <a:ext cx="5029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2461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0BCD4"/>
                </a:solidFill>
                <a:latin typeface="Calibri"/>
              </a:defRPr>
            </a:pPr>
            <a:r>
              <a:t>Streamlit Cloud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24612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Connect GitHub repo</a:t>
            </a:r>
            <a:br/>
            <a:r>
              <a:t>Secrets via dashboard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297680"/>
            <a:ext cx="5029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3891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43A047"/>
                </a:solidFill>
                <a:latin typeface="Calibri"/>
              </a:defRPr>
            </a:pPr>
            <a:r>
              <a:t>Hugging Face Spaces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38912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Streamlit Space type</a:t>
            </a:r>
            <a:br/>
            <a:r>
              <a:t>Hosted Qdrant backend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440680"/>
            <a:ext cx="5029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55321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6F00"/>
                </a:solidFill>
                <a:latin typeface="Calibri"/>
              </a:defRPr>
            </a:pPr>
            <a:r>
              <a:t>Render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553212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D99AE"/>
                </a:solidFill>
                <a:latin typeface="Calibri"/>
              </a:defRPr>
            </a:pPr>
            <a:r>
              <a:t>Web service deployment</a:t>
            </a:r>
            <a:br/>
            <a:r>
              <a:t>Custom port and env vars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188720" cy="2926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CRITERION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2D2D2D"/>
                </a:solidFill>
                <a:latin typeface="Georgia"/>
              </a:defRPr>
            </a:pPr>
            <a:r>
              <a:t>Responsible AI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8D99AE"/>
                </a:solidFill>
                <a:latin typeface="Calibri"/>
              </a:defRPr>
            </a:pPr>
            <a:r>
              <a:t>Transparency, fairness, and ethical considerations in AI-generated financial advice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8308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Transparency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Every answer includes source citations.</a:t>
            </a:r>
            <a:br/>
            <a:r>
              <a:t>Users can verify claims against original documents.</a:t>
            </a:r>
            <a:br/>
            <a:r>
              <a:t>Model limitations are clearly communicated.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1E88E5"/>
                </a:solidFill>
                <a:latin typeface="Calibri"/>
              </a:defRPr>
            </a:pPr>
            <a:r>
              <a:t>Users never take AI advice blindly — they see the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64592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0" y="1737360"/>
            <a:ext cx="457200" cy="457200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78308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Accuracy Bounds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RAGAS evaluation measures faithfulness.</a:t>
            </a:r>
            <a:br/>
            <a:r>
              <a:t>Golden dataset provides quality baseline.</a:t>
            </a:r>
            <a:br/>
            <a:r>
              <a:t>Drift monitoring alerts on degradation.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004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43A047"/>
                </a:solidFill>
                <a:latin typeface="Calibri"/>
              </a:defRPr>
            </a:pPr>
            <a:r>
              <a:t>The system knows when it doesn't know — and says so.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519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Privacy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6344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Ollama option for fully local inference.</a:t>
            </a:r>
            <a:br/>
            <a:r>
              <a:t>No user data sent to third parties (with local setup).</a:t>
            </a:r>
            <a:br/>
            <a:r>
              <a:t>API keys are env-only, never logged.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692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00BCD4"/>
                </a:solidFill>
                <a:latin typeface="Calibri"/>
              </a:defRPr>
            </a:pPr>
            <a:r>
              <a:t>Users control where their data goes.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11480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0" y="4206240"/>
            <a:ext cx="457200" cy="45720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2519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Financial Disclaimer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66344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Calculator outputs are clearly marked as estimates.</a:t>
            </a:r>
            <a:br/>
            <a:r>
              <a:t>System explicitly states it is not a financial advisor.</a:t>
            </a:r>
            <a:br/>
            <a:r>
              <a:t>Always recommends consulting a hypotheekadviseur.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6692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6F00"/>
                </a:solidFill>
                <a:latin typeface="Calibri"/>
              </a:defRPr>
            </a:pPr>
            <a:r>
              <a:t>AI augments, never replaces, professional advice.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Georgia"/>
              </a:defRPr>
            </a:pPr>
            <a:r>
              <a:t>4-Phase Evolution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8D99AE"/>
                </a:solidFill>
                <a:latin typeface="Calibri"/>
              </a:defRPr>
            </a:pPr>
            <a:r>
              <a:t>From foundation MVP to production multi-agent system</a:t>
            </a:r>
          </a:p>
        </p:txBody>
      </p:sp>
      <p:sp>
        <p:nvSpPr>
          <p:cNvPr id="5" name="Chevron 4"/>
          <p:cNvSpPr/>
          <p:nvPr/>
        </p:nvSpPr>
        <p:spPr>
          <a:xfrm>
            <a:off x="457200" y="1554480"/>
            <a:ext cx="2560320" cy="548640"/>
          </a:xfrm>
          <a:prstGeom prst="chevron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8191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0136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Foundation MVP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86584"/>
            <a:ext cx="731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RAG chat with citations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80944"/>
            <a:ext cx="731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Hybrid retrieval (RRF)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75304"/>
            <a:ext cx="731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Mortgage calculator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69664"/>
            <a:ext cx="731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148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Multi-provider LLM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764024"/>
            <a:ext cx="731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70916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Web search (Tavily)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358384"/>
            <a:ext cx="731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3035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Observability tab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6035040"/>
            <a:ext cx="2011680" cy="27432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0350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COMPLETE</a:t>
            </a:r>
          </a:p>
        </p:txBody>
      </p:sp>
      <p:sp>
        <p:nvSpPr>
          <p:cNvPr id="22" name="Chevron 21"/>
          <p:cNvSpPr/>
          <p:nvPr/>
        </p:nvSpPr>
        <p:spPr>
          <a:xfrm>
            <a:off x="3337560" y="1554480"/>
            <a:ext cx="2560320" cy="548640"/>
          </a:xfrm>
          <a:prstGeom prst="chevron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1880" y="158191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180136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Location Intelligence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40" y="2386584"/>
            <a:ext cx="731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3320" y="23317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Map + nearby POIs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2980944"/>
            <a:ext cx="731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3320" y="292608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OSRM commute routing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3575304"/>
            <a:ext cx="731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03320" y="352044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Area safety (CBS)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4169664"/>
            <a:ext cx="731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03320" y="41148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Knowledge graph (PyVis)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4764024"/>
            <a:ext cx="731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470916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A2UI directives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20440" y="6035040"/>
            <a:ext cx="2011680" cy="274320"/>
          </a:xfrm>
          <a:prstGeom prst="round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20440" y="60350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IN PROGRESS</a:t>
            </a:r>
          </a:p>
        </p:txBody>
      </p:sp>
      <p:sp>
        <p:nvSpPr>
          <p:cNvPr id="37" name="Chevron 36"/>
          <p:cNvSpPr/>
          <p:nvPr/>
        </p:nvSpPr>
        <p:spPr>
          <a:xfrm>
            <a:off x="6217920" y="1554480"/>
            <a:ext cx="2560320" cy="548640"/>
          </a:xfrm>
          <a:prstGeom prst="chevron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158191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180136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Monitoring &amp; UX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2386584"/>
            <a:ext cx="73152" cy="7315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23317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Sun orientation SVG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980944"/>
            <a:ext cx="73152" cy="7315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292608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RAGAS eval pipeline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3575304"/>
            <a:ext cx="73152" cy="7315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352044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Drift detection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169664"/>
            <a:ext cx="73152" cy="7315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0" y="41148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Prometheus metrics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4764024"/>
            <a:ext cx="73152" cy="7315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470916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Responsible AI docs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6035040"/>
            <a:ext cx="2011680" cy="274320"/>
          </a:xfrm>
          <a:prstGeom prst="roundRect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60350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PLANNED</a:t>
            </a:r>
          </a:p>
        </p:txBody>
      </p:sp>
      <p:sp>
        <p:nvSpPr>
          <p:cNvPr id="52" name="Chevron 51"/>
          <p:cNvSpPr/>
          <p:nvPr/>
        </p:nvSpPr>
        <p:spPr>
          <a:xfrm>
            <a:off x="9098280" y="1554480"/>
            <a:ext cx="2560320" cy="548640"/>
          </a:xfrm>
          <a:prstGeom prst="chevron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72600" y="158191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72600" y="180136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Multi-Agent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81160" y="2386584"/>
            <a:ext cx="73152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64040" y="23317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Orchestrator routing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81160" y="2980944"/>
            <a:ext cx="73152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64040" y="292608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Specialist agents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81160" y="3575304"/>
            <a:ext cx="73152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64040" y="352044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A2A handoffs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81160" y="4169664"/>
            <a:ext cx="73152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64040" y="41148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MCP integration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81160" y="4764024"/>
            <a:ext cx="73152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64040" y="470916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LangGraph (optional)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281160" y="6035040"/>
            <a:ext cx="2011680" cy="274320"/>
          </a:xfrm>
          <a:prstGeom prst="roundRect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281160" y="60350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PLANNED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2D2D2D"/>
                </a:solidFill>
                <a:latin typeface="Georgia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8D99AE"/>
                </a:solidFill>
                <a:latin typeface="Calibri"/>
              </a:defRPr>
            </a:pPr>
            <a:r>
              <a:t>48 dependencies organized by purpose — all open-source or free-tier compatible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3383280" cy="3657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8191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Frontend &amp;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Streamlit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01168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Web app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PyDeck/Folium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42316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Map visualization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PyVis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83464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Knowledge graph viz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4612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NetworkX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24612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Graph operations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59" y="1554480"/>
            <a:ext cx="3383280" cy="3657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1999" y="158191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LLM &amp;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19" y="20116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OpenAI SDK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01168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GPT-4o, embeddings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19" y="242316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LangChain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242316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Agent framework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19" y="283464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Ollama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83464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Local LLM inference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19" y="324612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Tavily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324612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Web search 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598" y="1554480"/>
            <a:ext cx="3383280" cy="36576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38" y="158191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Vector 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58" y="20116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Qdrant Client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398" y="201168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Vector DB 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8" y="242316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Sentence Transformers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398" y="242316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Embedding models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58" y="283464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FastEmbed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398" y="283464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Fast local embeddings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58" y="324612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pypdf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398" y="324612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PDF text extraction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023360"/>
            <a:ext cx="3383280" cy="36576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40507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Location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48056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Nominatim (OSM)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448056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Geocoding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489204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Overpass 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0" y="489204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POI queries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30352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OSRM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0" y="530352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Route calculation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571500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Neo4j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0320" y="571500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Graph database (P2)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80559" y="4023360"/>
            <a:ext cx="3383280" cy="3657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1999" y="40507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Monitoring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19" y="448056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Prometheus Client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59" y="448056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Metrics export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17719" y="489204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FastAPI/Uvicorn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59" y="489204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Metrics server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17719" y="530352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Langfuse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59" y="530352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LLM observability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17719" y="571500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JSON Store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59" y="571500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Drift tracking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598" y="4023360"/>
            <a:ext cx="3383280" cy="3657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21038" y="40507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DevOps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58" y="448056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GitHub Actions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398" y="448056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CI/CD pipeline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58" y="489204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Ruff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398" y="489204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Linting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66758" y="530352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pytest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398" y="530352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66758" y="571500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58398" y="571500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Containerization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2D2D2D"/>
                </a:solidFill>
                <a:latin typeface="Georgia"/>
              </a:defRPr>
            </a:pPr>
            <a:r>
              <a:t>Self-Assessment Against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8D99AE"/>
                </a:solidFill>
                <a:latin typeface="Calibri"/>
              </a:defRPr>
            </a:pPr>
            <a:r>
              <a:t>How our project maps to the 8 evaluation dimensions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914400" cy="256032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54480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1. Problem Definition &amp; AI 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55448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Clear objective (RAG for mortgage Q&amp;A), defined inputs/outputs, realistic scope, AI justified over rules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21992"/>
            <a:ext cx="914400" cy="256032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2199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Strong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176272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2. Data Understanding &amp;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176272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PDF preprocessing, semantic chunking (800/150), hybrid search features, domain-aware splitting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43784"/>
            <a:ext cx="914400" cy="256032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43784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Strong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798064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3. AI Innovation &amp; 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798064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Hybrid RRF retrieval, multi-agent orchestration, KG extraction, location intelligence, A2UI directives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65576"/>
            <a:ext cx="914400" cy="256032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65576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Strong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41985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4. Model Selection &amp; 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419856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RAG chosen over fine-tuning with clear rationale, flexible provider abstraction, model limitations stated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87368"/>
            <a:ext cx="914400" cy="256032"/>
          </a:xfrm>
          <a:prstGeom prst="round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8736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Good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041648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5. Training, Evaluation &amp;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041648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RAGAS framework, golden dataset, faithfulness 0.77, relevancy 1.0, continuous monitoring pipeline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709160"/>
            <a:ext cx="914400" cy="256032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709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Strong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663440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6. Database-AI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466344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Qdrant vector DB, end-to-end ingestion, batch embedding, source tracking, metrics persistence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330952"/>
            <a:ext cx="914400" cy="256032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330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Strong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285232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7. Business Impact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5285232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Clear beneficiaries (expats, advisors), actionable outputs with citations, 4 real-world scenarios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952744"/>
            <a:ext cx="914400" cy="256032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952744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Strong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907024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8. Documentation &amp; Explainability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5907024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D99AE"/>
                </a:solidFill>
                <a:latin typeface="Calibri"/>
              </a:defRPr>
            </a:pPr>
            <a:r>
              <a:t>690-line PHASES.md, DEPLOYMENT.md, README, responsible AI policy, CI/CD pipeline, .env.example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45775" y="-274320"/>
            <a:ext cx="1371600" cy="1371600"/>
          </a:xfrm>
          <a:prstGeom prst="ellipse">
            <a:avLst/>
          </a:prstGeom>
          <a:solidFill>
            <a:srgbClr val="12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94415" y="182880"/>
            <a:ext cx="822960" cy="82296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Georgia"/>
              </a:defRPr>
            </a:pPr>
            <a:r>
              <a:t>Summary &amp; 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4114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7335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What We Built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331720"/>
            <a:ext cx="731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402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RAG system for Dutch mortgage advice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770632"/>
            <a:ext cx="731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7919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Hybrid retrieval with RRF fusion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209544"/>
            <a:ext cx="731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118104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Multi-agent specialist orchestration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648456"/>
            <a:ext cx="731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557016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9-tab Streamlit interface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087368"/>
            <a:ext cx="731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99592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4,500+ lines of Python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1645920"/>
            <a:ext cx="3383280" cy="41148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19" y="167335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How It Innovates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19" y="2331720"/>
            <a:ext cx="731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599" y="22402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Combines vector + keyword search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19" y="2770632"/>
            <a:ext cx="731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599" y="267919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Agents route to specialists automatically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19" y="3209544"/>
            <a:ext cx="731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599" y="3118104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Knowledge graph for domain concepts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19" y="3648456"/>
            <a:ext cx="731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599" y="3557016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Location intelligence with commute 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19" y="4087368"/>
            <a:ext cx="731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599" y="399592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A2UI for dynamic widget rendering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598" y="1645920"/>
            <a:ext cx="3383280" cy="41148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58" y="167335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Real Impact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58" y="2331720"/>
            <a:ext cx="73152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38" y="22402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Expats get cited, verifiable answers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66758" y="2770632"/>
            <a:ext cx="73152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38" y="267919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Mortgage advisors save consultation time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66758" y="3209544"/>
            <a:ext cx="73152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38" y="3118104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Property comparison with commute data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66758" y="3648456"/>
            <a:ext cx="73152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38" y="3557016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Transparent AI with source attribution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66758" y="4087368"/>
            <a:ext cx="73152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49638" y="399592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Responsible AI practices documented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4754880"/>
            <a:ext cx="10515600" cy="27432"/>
          </a:xfrm>
          <a:prstGeom prst="rect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0292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8D99AE"/>
                </a:solidFill>
                <a:latin typeface="Calibri"/>
              </a:defRPr>
            </a:pPr>
            <a:r>
              <a:t>Faithfulness: 0.77  |  Answer Relevancy: 1.00  |  4 Phases Planned  |  3 LLM Providers  |  48 Dependencies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7607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Georgia"/>
              </a:defRPr>
            </a:pPr>
            <a:r>
              <a:t>Thank You — Questions?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3093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8D99AE"/>
                </a:solidFill>
                <a:latin typeface="Calibri"/>
              </a:defRPr>
            </a:pPr>
            <a:r>
              <a:t>Ajai  |  ajaikm@hotmail.com  | 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